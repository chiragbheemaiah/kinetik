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2060"/>
                </a:solidFill>
              </a:defRPr>
            </a:pPr>
            <a:r>
              <a:t>Citigroup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FY 2024 | Currency: USD (Billions)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4612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Markets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5544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15544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9456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Banking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21945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21945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83464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Wealth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06040" y="28346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86200" y="28346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47472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U.S. Personal Banking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347472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06040" y="347472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47472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200" y="347472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347472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11480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All Other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5960" y="41148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06040" y="41148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46120" y="41148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86200" y="41148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26280" y="41148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5960" y="47548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47548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Risk &amp;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47548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Compliance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47548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Orchestration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7548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Security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760720" y="914400"/>
          <a:ext cx="310896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548640"/>
                <a:gridCol w="54864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Operating Unit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Business 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 (Billions)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YoY Change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Treasury and Trade Solutions (TTS)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14.53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Securities 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5.12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Markets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Fixed Income Markets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14.75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Markets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Equity Markets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Investment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3.64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Banking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Corporate Lending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2.74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Wealth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7.51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U.S. Personal Banking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Branded Cards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10.70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U.S. Personal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Retail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7.11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008000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U.S. Personal Banking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Retail Banking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2.56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C00000"/>
                          </a:solidFill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All 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>
                          <a:solidFill>
                            <a:srgbClr val="C00000"/>
                          </a:solidFill>
                        </a:defRPr>
                      </a:pPr>
                      <a:r>
                        <a:t>-20%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